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ac17cb1b0046ff" /><Relationship Type="http://schemas.openxmlformats.org/officeDocument/2006/relationships/extended-properties" Target="/docProps/app.xml" Id="Rf9a62bf5288047a7" /><Relationship Type="http://schemas.openxmlformats.org/officeDocument/2006/relationships/officeDocument" Target="/ppt/presentation.xml" Id="Rd32f777b60a345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81db4c5f7a4a7d"/>
  </p:sldMasterIdLst>
  <p:notesMasterIdLst>
    <p:notesMasterId xmlns:r="http://schemas.openxmlformats.org/officeDocument/2006/relationships" r:id="R3454b7655b3a4324"/>
  </p:notesMasterIdLst>
  <p:sldIdLst>
    <p:sldId xmlns:r="http://schemas.openxmlformats.org/officeDocument/2006/relationships" id="256" r:id="R0b5db456d74a4c15"/>
    <p:sldId xmlns:r="http://schemas.openxmlformats.org/officeDocument/2006/relationships" id="257" r:id="Rb6c1049d601a43a8"/>
    <p:sldId xmlns:r="http://schemas.openxmlformats.org/officeDocument/2006/relationships" id="258" r:id="Rc95977e752dc448c"/>
    <p:sldId xmlns:r="http://schemas.openxmlformats.org/officeDocument/2006/relationships" id="259" r:id="R3fd4f34c57094aa0"/>
    <p:sldId xmlns:r="http://schemas.openxmlformats.org/officeDocument/2006/relationships" id="260" r:id="R91f3326f012c46df"/>
    <p:sldId xmlns:r="http://schemas.openxmlformats.org/officeDocument/2006/relationships" id="261" r:id="Ra9db0c56524e4773"/>
    <p:sldId xmlns:r="http://schemas.openxmlformats.org/officeDocument/2006/relationships" id="262" r:id="Re6910c652d4a4304"/>
    <p:sldId xmlns:r="http://schemas.openxmlformats.org/officeDocument/2006/relationships" id="263" r:id="R947922338b78445f"/>
    <p:sldId xmlns:r="http://schemas.openxmlformats.org/officeDocument/2006/relationships" id="264" r:id="R86bd0dcb63544cc2"/>
    <p:sldId xmlns:r="http://schemas.openxmlformats.org/officeDocument/2006/relationships" id="265" r:id="R5238bb9021974a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1db4c5f7a4a7d" /><Relationship Type="http://schemas.openxmlformats.org/officeDocument/2006/relationships/theme" Target="/ppt/theme/theme1.xml" Id="R6d1a46d76a6a4f82" /><Relationship Type="http://schemas.openxmlformats.org/officeDocument/2006/relationships/notesMaster" Target="/ppt/notesMasters/notesMaster1.xml" Id="R3454b7655b3a4324" /><Relationship Type="http://schemas.openxmlformats.org/officeDocument/2006/relationships/presProps" Target="/ppt/presProps.xml" Id="R2d24603cf12f42be" /><Relationship Type="http://schemas.openxmlformats.org/officeDocument/2006/relationships/viewProps" Target="/ppt/viewProps.xml" Id="Rc280f4cd3b864116" /><Relationship Type="http://schemas.openxmlformats.org/officeDocument/2006/relationships/tableStyles" Target="/ppt/tableStyles.xml" Id="Ra0063d409ee041c1" /><Relationship Type="http://schemas.openxmlformats.org/officeDocument/2006/relationships/slide" Target="/ppt/slides/slide1.xml" Id="R0b5db456d74a4c15" /><Relationship Type="http://schemas.openxmlformats.org/officeDocument/2006/relationships/slide" Target="/ppt/slides/slide2.xml" Id="Rb6c1049d601a43a8" /><Relationship Type="http://schemas.openxmlformats.org/officeDocument/2006/relationships/slide" Target="/ppt/slides/slide3.xml" Id="Rc95977e752dc448c" /><Relationship Type="http://schemas.openxmlformats.org/officeDocument/2006/relationships/slide" Target="/ppt/slides/slide4.xml" Id="R3fd4f34c57094aa0" /><Relationship Type="http://schemas.openxmlformats.org/officeDocument/2006/relationships/slide" Target="/ppt/slides/slide5.xml" Id="R91f3326f012c46df" /><Relationship Type="http://schemas.openxmlformats.org/officeDocument/2006/relationships/slide" Target="/ppt/slides/slide6.xml" Id="Ra9db0c56524e4773" /><Relationship Type="http://schemas.openxmlformats.org/officeDocument/2006/relationships/slide" Target="/ppt/slides/slide7.xml" Id="Re6910c652d4a4304" /><Relationship Type="http://schemas.openxmlformats.org/officeDocument/2006/relationships/slide" Target="/ppt/slides/slide8.xml" Id="R947922338b78445f" /><Relationship Type="http://schemas.openxmlformats.org/officeDocument/2006/relationships/slide" Target="/ppt/slides/slide9.xml" Id="R86bd0dcb63544cc2" /><Relationship Type="http://schemas.openxmlformats.org/officeDocument/2006/relationships/slide" Target="/ppt/slides/slide10.xml" Id="R5238bb9021974a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ad63ad6161846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391e34e9c14834" /><Relationship Type="http://schemas.openxmlformats.org/officeDocument/2006/relationships/notesMaster" Target="/ppt/notesMasters/notesMaster1.xml" Id="R1278cf44b6dd4b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9a31e7f6964d27" /><Relationship Type="http://schemas.openxmlformats.org/officeDocument/2006/relationships/notesMaster" Target="/ppt/notesMasters/notesMaster1.xml" Id="Rbbb99255fbe148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8e32ccb0c740ae" /><Relationship Type="http://schemas.openxmlformats.org/officeDocument/2006/relationships/notesMaster" Target="/ppt/notesMasters/notesMaster1.xml" Id="Rea154ce2190e40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92158d38d0430d" /><Relationship Type="http://schemas.openxmlformats.org/officeDocument/2006/relationships/notesMaster" Target="/ppt/notesMasters/notesMaster1.xml" Id="Re7f3caf5544342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9cb48916754941" /><Relationship Type="http://schemas.openxmlformats.org/officeDocument/2006/relationships/notesMaster" Target="/ppt/notesMasters/notesMaster1.xml" Id="R08673c25adb84a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8a4692f001451e" /><Relationship Type="http://schemas.openxmlformats.org/officeDocument/2006/relationships/notesMaster" Target="/ppt/notesMasters/notesMaster1.xml" Id="R35d1614364694c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8905fb2d4f4b61" /><Relationship Type="http://schemas.openxmlformats.org/officeDocument/2006/relationships/notesMaster" Target="/ppt/notesMasters/notesMaster1.xml" Id="R6aeebf55626c4f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8f1cffd1b1408e" /><Relationship Type="http://schemas.openxmlformats.org/officeDocument/2006/relationships/notesMaster" Target="/ppt/notesMasters/notesMaster1.xml" Id="R04b124c08d1a45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05952b5ed54393" /><Relationship Type="http://schemas.openxmlformats.org/officeDocument/2006/relationships/notesMaster" Target="/ppt/notesMasters/notesMaster1.xml" Id="Ra4e71d17b5b442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6917e2f2cf4b82" /><Relationship Type="http://schemas.openxmlformats.org/officeDocument/2006/relationships/notesMaster" Target="/ppt/notesMasters/notesMaster1.xml" Id="R36fb302a72514d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explaining that Docker Heist implements the game/project track from the assignment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align the project with the assignment's game-programming option.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this live on the Game page after explaining the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user actions move from the browser to GraphQL resolvers and then into MongoDB.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Game page and the updated UI design during the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GraphQL endpoint to show query and mutation names if time allows.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MongoDB Compass or Atlas to show example documents for User, GameProfile, and LeaderboardEntry.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Submit an AI challenge during the demo, then show the dashboard event feed and profile rewards.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transparent: deployment links should be added after hosting; multiplayer is listed as bonus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running through the demo flow and mentioning the test/build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151dc180d4b3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E830C27-6A75-4A88-AC97-A6BF0DC179D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2BF259FC-CECB-4220-873A-22458948A0B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1D8848-F49E-424E-9356-5C59654EB20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DD2BFD-D9EC-4A32-8B65-7BBAF95AF73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0838e6ee22a40bf" /><Relationship Type="http://schemas.openxmlformats.org/officeDocument/2006/relationships/slideLayout" Target="/ppt/slideLayouts/slideLayout2.xml" Id="Rdb6b8509eda444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0486-6F9E-42EC-89BD-FC3CF1F3A01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b8509eda444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47d074ce544c6f" /><Relationship Type="http://schemas.openxmlformats.org/officeDocument/2006/relationships/notesSlide" Target="/ppt/notesSlides/notesSlide1.xml" Id="Rcbb0291617f548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098e4dc2844c50" /><Relationship Type="http://schemas.openxmlformats.org/officeDocument/2006/relationships/notesSlide" Target="/ppt/notesSlides/notesSlide2.xml" Id="R242bc4d8d50f4a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12edccb0ee4245" /><Relationship Type="http://schemas.openxmlformats.org/officeDocument/2006/relationships/notesSlide" Target="/ppt/notesSlides/notesSlide3.xml" Id="R07ca0432be9048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bd388bf2c3440f" /><Relationship Type="http://schemas.openxmlformats.org/officeDocument/2006/relationships/notesSlide" Target="/ppt/notesSlides/notesSlide4.xml" Id="Rf20be78737ac4a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af69f2818547de" /><Relationship Type="http://schemas.openxmlformats.org/officeDocument/2006/relationships/notesSlide" Target="/ppt/notesSlides/notesSlide5.xml" Id="R27adf19bd6ef44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ba28dde20f463d" /><Relationship Type="http://schemas.openxmlformats.org/officeDocument/2006/relationships/notesSlide" Target="/ppt/notesSlides/notesSlide6.xml" Id="Rd56259e5e33b44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7c3837ffc496e" /><Relationship Type="http://schemas.openxmlformats.org/officeDocument/2006/relationships/notesSlide" Target="/ppt/notesSlides/notesSlide7.xml" Id="Rbe570d4df9ae47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aea8a24e10443f" /><Relationship Type="http://schemas.openxmlformats.org/officeDocument/2006/relationships/notesSlide" Target="/ppt/notesSlides/notesSlide8.xml" Id="Rf20879ec7cfa42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dbb7c3c2e84e12" /><Relationship Type="http://schemas.openxmlformats.org/officeDocument/2006/relationships/notesSlide" Target="/ppt/notesSlides/notesSlide9.xml" Id="R27bd87429ab24d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ae02c11ea447a6" /><Relationship Type="http://schemas.openxmlformats.org/officeDocument/2006/relationships/notesSlide" Target="/ppt/notesSlides/notesSlide10.xml" Id="R6dbe709fa03547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3FE3A-06CC-4014-8293-F62B793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942D0-3A70-4090-9892-943097C7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A3644-7A35-499B-889E-53D5511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D635D-949B-447E-9B17-8DB47664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814A4-2050-4B44-88BA-AEBB51E4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F2976-C8CB-413D-9BF9-3E579908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770B7-F1B0-484E-AB61-0BA86A12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92479-B680-4AA7-AC89-FFD4BA33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1899A-7781-41AB-887F-5C0496F3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5607E-0944-4A70-ADE5-59CBEE47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72D11-54D4-4B65-BB3F-DA508D85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EA131-8B8C-4922-A46A-96B5BF58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B50B9-9609-49E4-B5DB-04C291DD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74430-F614-4089-A2A6-101616AB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84AED-46E0-4BF5-897D-1980ED63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5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C9562-F482-483A-8C3C-58BA2F8D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2190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352F2-633F-42EE-8757-DFDEAF07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>
              <a:alpha val="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FF520-68A6-41D0-ACDD-66DF4632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52006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0">
              <a:alpha val="80000"/>
            </a:srgbClr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2C224-735A-44F2-A543-30D1DF3D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D7FF"/>
                </a:solidFill>
              </a:defRPr>
            </a:pPr>
            <a:r>
              <a:rPr sz="1050" b="1">
                <a:solidFill>
                  <a:srgbClr val="44D7FF"/>
                </a:solidFill>
              </a:rPr>
              <a:t>COMP-308 Exercise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23949-82D3-42D8-B74A-5039B2A1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F2A4"/>
                </a:solidFill>
              </a:defRPr>
            </a:pPr>
            <a:r>
              <a:rPr sz="1350" b="1">
                <a:solidFill>
                  <a:srgbClr val="70F2A4"/>
                </a:solidFill>
              </a:rPr>
              <a:t>Final Group Project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E6E44-1F19-46AB-A3E6-3A4B2733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Docker Heist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531A3-591B-43DE-8A8E-70D9BCD1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590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2BD"/>
                </a:solidFill>
              </a:defRPr>
            </a:pPr>
            <a:r>
              <a:rPr sz="1575" b="0">
                <a:solidFill>
                  <a:srgbClr val="9FB2BD"/>
                </a:solidFill>
              </a:rPr>
              <a:t>A dark, Docker-themed web game built with React Vite, Three.js, GraphQL, MongoDB, and JWT authentication.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285D0-5A38-45D3-9615-CCE30BA5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1430">
            <a:solidFill>
              <a:srgbClr val="70F2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4733C-307A-4C7A-BC5B-9DAFCCA1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2BD"/>
                </a:solidFill>
              </a:defRPr>
            </a:pPr>
            <a:r>
              <a:rPr sz="825" b="1">
                <a:solidFill>
                  <a:srgbClr val="9FB2BD"/>
                </a:solidFill>
              </a:rPr>
              <a:t>Frontend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3207B-DB05-4EE3-9093-5B1C3207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F2A4"/>
                </a:solidFill>
              </a:defRPr>
            </a:pPr>
            <a:r>
              <a:rPr sz="1650" b="1">
                <a:solidFill>
                  <a:srgbClr val="70F2A4"/>
                </a:solidFill>
              </a:rPr>
              <a:t>React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0CA03-4AC2-4DD0-9E2D-08742455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8150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1430">
            <a:solidFill>
              <a:srgbClr val="44D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AEF15-61E6-4F3F-99B9-89AE0719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2BD"/>
                </a:solidFill>
              </a:defRPr>
            </a:pPr>
            <a:r>
              <a:rPr sz="825" b="1">
                <a:solidFill>
                  <a:srgbClr val="9FB2BD"/>
                </a:solidFill>
              </a:rPr>
              <a:t>3D Engine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2AA7A-6A86-4E6C-AD0C-93CC698D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053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D7FF"/>
                </a:solidFill>
              </a:defRPr>
            </a:pPr>
            <a:r>
              <a:rPr sz="1650" b="1">
                <a:solidFill>
                  <a:srgbClr val="44D7FF"/>
                </a:solidFill>
              </a:rPr>
              <a:t>Three.js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0A1226-3791-4EFC-81C4-1F90BAF5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1430">
            <a:solidFill>
              <a:srgbClr val="FFC8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7A8C5-10FB-45F8-88E4-861E30FA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958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2BD"/>
                </a:solidFill>
              </a:defRPr>
            </a:pPr>
            <a:r>
              <a:rPr sz="825" b="1">
                <a:solidFill>
                  <a:srgbClr val="9FB2BD"/>
                </a:solidFill>
              </a:rPr>
              <a:t>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727144-1C61-447D-B29D-F056FFB6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053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857"/>
                </a:solidFill>
              </a:defRPr>
            </a:pPr>
            <a:r>
              <a:rPr sz="1650" b="1">
                <a:solidFill>
                  <a:srgbClr val="FFC857"/>
                </a:solidFill>
              </a:rPr>
              <a:t>GraphQL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16BCB7-76E4-4650-84B7-68C74BB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66800"/>
            <a:ext cx="4095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A1017"/>
          </a:solidFill>
          <a:ln xmlns:a="http://schemas.openxmlformats.org/drawingml/2006/main" w="11430">
            <a:solidFill>
              <a:srgbClr val="3553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BBF5A9-A556-48B4-B9C3-3D7EA573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668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90D740-63C8-46A9-A34D-C65259B4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9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1E641E-F084-4352-9C9F-80B8EEE4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9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64A504-900A-495A-91D2-95B9EEE7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09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A16D41-DF90-4178-9201-4C972B36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7640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F2A4"/>
                </a:solidFill>
              </a:defRPr>
            </a:pPr>
            <a:r>
              <a:rPr sz="1200" b="0">
                <a:solidFill>
                  <a:srgbClr val="70F2A4"/>
                </a:solidFill>
              </a:rPr>
              <a:t>$ docker ps --fleet whale-ops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811D9E-B8FD-467E-BABB-F03F94DF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8120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D7FF"/>
                </a:solidFill>
              </a:defRPr>
            </a:pPr>
            <a:r>
              <a:rPr sz="1200" b="0">
                <a:solidFill>
                  <a:srgbClr val="44D7FF"/>
                </a:solidFill>
              </a:rPr>
              <a:t>&gt; 14 containers detected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4046DB-6BF6-4602-8E7B-E469B5C8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8600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F2A4"/>
                </a:solidFill>
              </a:defRPr>
            </a:pPr>
            <a:r>
              <a:rPr sz="1200" b="0">
                <a:solidFill>
                  <a:srgbClr val="70F2A4"/>
                </a:solidFill>
              </a:rPr>
              <a:t>&gt; 03 services unstable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B95657-9086-4A3D-B5DA-8773FEA6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D7FF"/>
                </a:solidFill>
              </a:defRPr>
            </a:pPr>
            <a:r>
              <a:rPr sz="1200" b="0">
                <a:solidFill>
                  <a:srgbClr val="44D7FF"/>
                </a:solidFill>
              </a:rPr>
              <a:t>$ docker restart container-08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9DF7F7-68CC-4160-8D37-2DD9B630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F2A4"/>
                </a:solidFill>
              </a:defRPr>
            </a:pPr>
            <a:r>
              <a:rPr sz="1200" b="0">
                <a:solidFill>
                  <a:srgbClr val="70F2A4"/>
                </a:solidFill>
              </a:rPr>
              <a:t>&gt; health restored +6%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301D63-A2C4-45FA-A0E7-7ACC197D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0040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D7FF"/>
                </a:solidFill>
              </a:defRPr>
            </a:pPr>
            <a:r>
              <a:rPr sz="1200" b="0">
                <a:solidFill>
                  <a:srgbClr val="44D7FF"/>
                </a:solidFill>
              </a:rPr>
              <a:t>$ submit adaptive-sentinel-duel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E4D43A-D56B-4996-B1E8-EB11B7D5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577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820">
              <a:alpha val="86667"/>
            </a:srgbClr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D560BF-6D26-4C14-835F-B1248D63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292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Presentation-ready demo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D91C93-DEE8-4B42-801D-EF883B53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34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77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BD"/>
                </a:solidFill>
              </a:defRPr>
            </a:pPr>
            <a:r>
              <a:rPr sz="1050" b="0">
                <a:solidFill>
                  <a:srgbClr val="9FB2BD"/>
                </a:solidFill>
              </a:rPr>
              <a:t>Auth, gameplay, persistence, rewards, AI challenge mode, and leaderboard are implemented.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BA55FD-8675-46D3-9AC3-957E05BA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2BD"/>
                </a:solidFill>
              </a:defRPr>
            </a:pPr>
            <a:r>
              <a:rPr sz="825" b="0">
                <a:solidFill>
                  <a:srgbClr val="9FB2BD"/>
                </a:solidFill>
              </a:rPr>
              <a:t>Docker Heist | React Vite + Three.js + GraphQL + MongoDB</a:t>
            </a:r>
          </a:p>
        </p:txBody>
      </p:sp>
    </p:spTree>
    <p:extLst>
      <p:ext uri="{BB962C8B-B14F-4D97-AF65-F5344CB8AC3E}">
        <p14:creationId xmlns:p14="http://schemas.microsoft.com/office/powerpoint/2010/main" val="1319916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86E60-39FE-40CD-9BA3-96DC6C25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993A0-BA49-47BD-A0F3-D9CE36AA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90DB0-219E-4724-B838-C9E7C96E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4E74E-CE66-4446-A9D1-E1E1C892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C86E0-3A6E-481E-AA65-FDB40FF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F432E-17E5-4538-976F-2CD9BF8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C57EF-0989-46EC-9621-AAC8201B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8B0FF-F502-49AC-9052-55FD9514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EDA96-8DA5-4B67-B941-C912DE4D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A8364-1A6C-4116-A5A5-DD66206A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D4B69-D1C6-48A9-BD4A-E2ADAF8E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F924C-511E-4461-9424-C99C1DD8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DE3FC-D82A-4F91-8B7F-98F8FCF0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0C394-1FCF-43E8-AB9B-0DA9AEA8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36AB9-8FDA-4325-B57F-753492D4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5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A8BB5-0C37-490A-A55C-650803B2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2190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0E3D3-20FC-42B6-A696-DE5EC992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>
              <a:alpha val="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72E140-4422-4B66-9DDA-9D703052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FF"/>
                </a:solidFill>
              </a:defRPr>
            </a:pPr>
            <a:r>
              <a:rPr sz="975" b="1">
                <a:solidFill>
                  <a:srgbClr val="44D7FF"/>
                </a:solidFill>
              </a:rPr>
              <a:t>Project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4D1D7-33BA-43C3-B461-7E4E188D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2BD"/>
                </a:solidFill>
              </a:defRPr>
            </a:pPr>
            <a:r>
              <a:rPr sz="975" b="1">
                <a:solidFill>
                  <a:srgbClr val="9FB2BD"/>
                </a:solidFill>
              </a:rPr>
              <a:t>02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E04CD-B055-4ADA-BCC3-7A2294A8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57A84-4A23-4458-AE69-C53B44C3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8F4DF-0D56-4191-B5C4-40E2BF0E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BD"/>
                </a:solidFill>
              </a:defRPr>
            </a:pPr>
            <a:r>
              <a:rPr sz="1350" b="0">
                <a:solidFill>
                  <a:srgbClr val="9FB2BD"/>
                </a:solidFill>
              </a:rPr>
              <a:t>The project satisfies the web-based game option: interactive gameplay, backend persistence, rewards, and a presentation-ready demo.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D41A0-F4D3-474B-A627-AC30614E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359B9B-CAE8-4517-95EB-FB369242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2BB360-5203-4176-AAD0-8FDC6791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User 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FA2F21-C5C4-4BA4-9290-D1B3D9A5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Registration/login with JWT, protected routes, and profile data.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E37FC7-7BE1-4AC3-B1CA-D55339FB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4899F0-F2E5-48E5-8896-9BEF6A6C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2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7F92B3-C72C-4E4C-B777-6AFDA7E2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33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3D Gameplay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F3A474-C261-455A-85EE-DEA1AC21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147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Three.js Docker whale scene with clickable containers and command actions.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6EEF0F-C9AF-4371-9F14-39080B6A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6D4635-E33A-4592-93F4-912E3262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450E78-8A31-446F-927D-B6F6AA0C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GraphQL + DB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3F7831-5AA0-49DA-A7D1-7298EA4B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Apollo Server API with MongoDB models for game progress and scores.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934209-2893-490E-A347-9FD41525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5CE155-796E-4383-8534-08F50BB1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08580B-035A-45E5-B6E9-7EB9395E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Progression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36F917-660B-40F1-8ED0-A1BCC658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244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XP, levels, credits, achievements, cosmetics, challenges, and leaderboard.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36E7B0-A734-4CE6-BE4E-64408703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2BD"/>
                </a:solidFill>
              </a:defRPr>
            </a:pPr>
            <a:r>
              <a:rPr sz="825" b="0">
                <a:solidFill>
                  <a:srgbClr val="9FB2BD"/>
                </a:solidFill>
              </a:rPr>
              <a:t>Docker Heist | React Vite + Three.js + GraphQL + MongoDB</a:t>
            </a:r>
          </a:p>
        </p:txBody>
      </p:sp>
    </p:spTree>
    <p:extLst>
      <p:ext uri="{BB962C8B-B14F-4D97-AF65-F5344CB8AC3E}">
        <p14:creationId xmlns:p14="http://schemas.microsoft.com/office/powerpoint/2010/main" val="1499018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3709C-2338-4BF1-ADD7-79E78426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BFFEC-14BC-4B9F-9EC7-CE5E4E17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F8383-95EE-426F-BA93-1FE2A69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EC9E1-277C-48E7-B1CE-8C85E68D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866CF-F1CC-49F5-BD39-42A3F7DB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39E7C-E8BF-471A-B294-2E0FE1C0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45A5A-AB41-4403-BAF0-255C8C90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5E96F-2666-4C1B-9DA7-46FFB3B9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D1A19-B3B0-40ED-A35D-EED7E67F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A36DC-D624-4D32-82C9-E244BCCA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57C05-D62C-4CBA-B2DA-1E4031F2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F9CAD-9ACF-40F8-8051-A5E5552E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C8329-6464-44F7-941A-F483F7B9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DB17D-A8F5-4C02-AE2D-3946C15B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AF1FB-1003-4BEA-9F99-EAC5F855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5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B0768-5AC5-4746-B035-B70F2AD9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2190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A662F-205B-47B9-9D9F-116E56C1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>
              <a:alpha val="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23265-1D42-40AD-B43C-B5349923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FF"/>
                </a:solidFill>
              </a:defRPr>
            </a:pPr>
            <a:r>
              <a:rPr sz="975" b="1">
                <a:solidFill>
                  <a:srgbClr val="44D7FF"/>
                </a:solidFill>
              </a:rPr>
              <a:t>Gameplay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70C62-C968-4B9B-8BF5-BF1D195A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2BD"/>
                </a:solidFill>
              </a:defRPr>
            </a:pPr>
            <a:r>
              <a:rPr sz="975" b="1">
                <a:solidFill>
                  <a:srgbClr val="9FB2BD"/>
                </a:solidFill>
              </a:rPr>
              <a:t>03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62F43-0B56-4F45-967E-D31B472E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C6ECF-5544-4D98-A276-EAFB94F6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Core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54429-3825-4B8A-B543-18255714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BD"/>
                </a:solidFill>
              </a:defRPr>
            </a:pPr>
            <a:r>
              <a:rPr sz="1350" b="0">
                <a:solidFill>
                  <a:srgbClr val="9FB2BD"/>
                </a:solidFill>
              </a:rPr>
              <a:t>The player manages unstable containers while score increases and health drops when services crash.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6E46A-6098-48BF-B816-F042D9C6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766AB7-B267-41B7-AB69-C5C58115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718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F"/>
                </a:solidFill>
              </a:defRPr>
            </a:pPr>
            <a:r>
              <a:rPr sz="1800" b="1">
                <a:solidFill>
                  <a:srgbClr val="070A0F"/>
                </a:solidFill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3EFBC2-D323-4D08-9D71-0D05D4BB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1123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575AFF-AE46-4750-A730-18392BE2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148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 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44F2E-1EFD-4CC7-93A7-2B4FCB39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457700"/>
            <a:ext cx="1790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Start from a JWT-backed player profile.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0B6875-1309-4548-8CD0-D3D70849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0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1728A5-F323-440E-B3C1-D28F08A7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718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F"/>
                </a:solidFill>
              </a:defRPr>
            </a:pPr>
            <a:r>
              <a:rPr sz="1800" b="1">
                <a:solidFill>
                  <a:srgbClr val="070A0F"/>
                </a:solidFill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F51841-3DD4-4645-9105-A7830AF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09950"/>
            <a:ext cx="1123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D7127E-D739-4B9D-A438-BD3D0A73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Inspect fleet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410B7C-64BE-43B2-B9F9-F67861B9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1790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Click containers on the Three.js whale.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41A2F-2856-4A6B-9EF2-9195B701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0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D6BE4D-EB73-4D9A-A1D7-D99F66B0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718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F"/>
                </a:solidFill>
              </a:defRPr>
            </a:pPr>
            <a:r>
              <a:rPr sz="1800" b="1">
                <a:solidFill>
                  <a:srgbClr val="070A0F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74419D-DD1B-4150-983A-85C49F33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123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C0E1E1-7892-4CBB-B3E2-5E1DD4B9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148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Run commands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67927B-83F9-47F9-B559-ADBFE5C2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57700"/>
            <a:ext cx="1790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Use start, stop, restart, and commit actions.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381434-8AD2-4A78-B2FF-1968C98C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A2A1E7-8B91-4E29-B3C9-DC21C0B7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718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F"/>
                </a:solidFill>
              </a:defRPr>
            </a:pPr>
            <a:r>
              <a:rPr sz="1800" b="1">
                <a:solidFill>
                  <a:srgbClr val="070A0F"/>
                </a:solidFill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0AA5B9-A7F4-4B1A-AB64-938652CE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9950"/>
            <a:ext cx="1123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4BBD4E-CDF0-465C-9693-D14C3607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148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Earn rewards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6BF35D-2F45-4B47-B4B9-08CE880D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57700"/>
            <a:ext cx="1790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Score, XP, credits, and achievements update.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13F04D-918A-4B7B-8A74-3F669C3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0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1753F8-46F3-47EF-962E-8890C93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3718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F"/>
                </a:solidFill>
              </a:defRPr>
            </a:pPr>
            <a:r>
              <a:rPr sz="1800" b="1">
                <a:solidFill>
                  <a:srgbClr val="070A0F"/>
                </a:solidFill>
              </a:rPr>
              <a:t>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44DFB2-4F84-446B-AB28-97F83DA4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148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Save progress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AB602A-58C9-4111-B225-B1FD88A7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1790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GraphQL persists results to MongoDB.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D1A270-53D7-4221-A69C-D20D7AF3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2BD"/>
                </a:solidFill>
              </a:defRPr>
            </a:pPr>
            <a:r>
              <a:rPr sz="825" b="0">
                <a:solidFill>
                  <a:srgbClr val="9FB2BD"/>
                </a:solidFill>
              </a:rPr>
              <a:t>Docker Heist | React Vite + Three.js + GraphQL + MongoDB</a:t>
            </a:r>
          </a:p>
        </p:txBody>
      </p:sp>
    </p:spTree>
    <p:extLst>
      <p:ext uri="{BB962C8B-B14F-4D97-AF65-F5344CB8AC3E}">
        <p14:creationId xmlns:p14="http://schemas.microsoft.com/office/powerpoint/2010/main" val="428300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4D54F-A98C-473B-9F83-EDF6EA5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961AA-6053-43D6-A69E-6CAD2904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E046E-3306-43FA-833D-48EF801F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18BC8-5318-491F-95A5-D48CC1F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6E07B-4C00-4DF1-9C65-260936F7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F931A-0A4C-4C01-ABD5-C23499A1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02168-F141-4014-AEB9-3524C73A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EC0D0-5E16-4D3B-91E1-32E43F7F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E66E3-C0CE-47FF-B11F-AE4C83C6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70626-F6DF-488D-BB39-C4FCB073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C3588-FC03-459F-A738-0C187B65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C38D2-5331-4012-A341-9BF0FBCF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00A32-F1D6-495C-B1FD-6E9C9BDF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9F272-8CD1-4D10-A5CB-E2582B44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AD42C-06BB-47EC-ACF6-3C10D4A2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5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725EB-E0E1-4FC7-A596-D9E08BC6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2190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404E3-E191-48FD-BEAD-8691807D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>
              <a:alpha val="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01D12-27F3-44B1-ABAE-6CCF1B99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FF"/>
                </a:solidFill>
              </a:defRPr>
            </a:pPr>
            <a:r>
              <a:rPr sz="975" b="1">
                <a:solidFill>
                  <a:srgbClr val="44D7FF"/>
                </a:solidFill>
              </a:rPr>
              <a:t>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ED75E-33D6-4994-BFEF-1431C445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2BD"/>
                </a:solidFill>
              </a:defRPr>
            </a:pPr>
            <a:r>
              <a:rPr sz="975" b="1">
                <a:solidFill>
                  <a:srgbClr val="9FB2BD"/>
                </a:solidFill>
              </a:rPr>
              <a:t>04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93617-4046-4531-BE28-A3544D3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DCDCB-AE7A-4C60-B176-24090380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B3F2B-048F-43AD-8E7D-382D8D03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BD"/>
                </a:solidFill>
              </a:defRPr>
            </a:pPr>
            <a:r>
              <a:rPr sz="1350" b="0">
                <a:solidFill>
                  <a:srgbClr val="9FB2BD"/>
                </a:solidFill>
              </a:rPr>
              <a:t>The app is split into a React client, GraphQL API, authentication layer, and MongoDB persistence.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B2334-1BE1-43BF-9A0B-C4A95FAF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00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EC0849-2E9E-47E2-A839-7B4A7320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DA46ED-C7B0-41A6-A0AF-CDFDF692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React Vite Client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64941-6A79-42B6-870B-6C1204E4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1543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Pages, routes, Apollo Client, Three.js game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C972D6-2AC8-4C94-8E93-989E8E0A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52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38CA4-7398-4657-9DAB-5971F565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000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0FB65-13B5-4628-9161-1B7F1FDA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2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4CA23D-F36A-4638-A0BF-96BF04A0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GraphQL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B8B56E-C41F-4366-9DE3-3EE93028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48050"/>
            <a:ext cx="1543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Apollo Server on Express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86D009-6C4A-4695-BD39-EEE959B3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052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44D6F2-176E-4A2C-BA2E-4493CFC1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00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7694C6-263D-42A8-B0B5-40F5367A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AAA59E-7E65-4B72-B80B-AA3ED866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Auth Context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078D78-51A2-4CD9-9BCB-E958304F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8050"/>
            <a:ext cx="1543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JWT middleware and current user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5E63D7-6091-446A-ACBE-EFB9252E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24BDC8-B08F-428C-B5AE-E670640F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2000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452041-95A8-411A-A8BC-26C17CB3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1DFF79-2321-4346-8890-896C38B3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670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MongoDB Atlas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16E0A1-EA9B-43D6-9B0A-D0E9607F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48050"/>
            <a:ext cx="1543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Mongoose models and seeded demo data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09F009-38CC-4CA8-A797-D83D05E6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48250"/>
            <a:ext cx="7981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530C36-D87F-47C4-B99F-FC1CAC0F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741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386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EF5F8"/>
                </a:solidFill>
              </a:defRPr>
            </a:pPr>
            <a:r>
              <a:rPr sz="1350" b="0">
                <a:solidFill>
                  <a:srgbClr val="EEF5F8"/>
                </a:solidFill>
              </a:rPr>
              <a:t>Request flow: browser action -&gt; Apollo Client -&gt; Express GraphQL resolver -&gt; Mongoose model -&gt; MongoDB document -&gt; UI refresh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6D1623-D97C-4929-BA54-27BAB42B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2BD"/>
                </a:solidFill>
              </a:defRPr>
            </a:pPr>
            <a:r>
              <a:rPr sz="825" b="0">
                <a:solidFill>
                  <a:srgbClr val="9FB2BD"/>
                </a:solidFill>
              </a:rPr>
              <a:t>Docker Heist | React Vite + Three.js + GraphQL + MongoDB</a:t>
            </a:r>
          </a:p>
        </p:txBody>
      </p:sp>
    </p:spTree>
    <p:extLst>
      <p:ext uri="{BB962C8B-B14F-4D97-AF65-F5344CB8AC3E}">
        <p14:creationId xmlns:p14="http://schemas.microsoft.com/office/powerpoint/2010/main" val="1226269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F025B-B416-4254-9D4B-7AF5DEC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C3D8A-0BB3-4413-99CD-63966A77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95C80-B4CB-426F-B711-A6C08768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3C48C-D28F-484C-BFE2-1EC088F0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06961-6011-4696-904F-34967A7F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9D9F6-E870-4B5F-967F-A02BF212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17592-E73C-4CD3-A431-F994BD8F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34F03-997F-4FA9-9E7D-E93ACC9D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9250D-8CDC-47D7-82FC-719AF217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EB272-DDBC-4058-8EB1-969A8E81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FCECA-8A03-439D-BE80-C5092AF8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C4152-0731-4431-BF51-444D213B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2D4A9-CD04-4204-B2EF-12CFFCE1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256D3-B975-4A2D-9726-E221A9ED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D5F93-46DB-41B5-A655-4BD4750C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5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A3F80-AF88-4868-979E-7BB3F82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2190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891E5-2F4F-4931-9CC6-AD49293F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>
              <a:alpha val="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3C810-E112-467D-8C79-D9A5D061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FF"/>
                </a:solidFill>
              </a:defRPr>
            </a:pPr>
            <a:r>
              <a:rPr sz="975" b="1">
                <a:solidFill>
                  <a:srgbClr val="44D7FF"/>
                </a:solidFill>
              </a:rPr>
              <a:t>Frontend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67B9B-2D40-4347-9EAD-66C75AA4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2BD"/>
                </a:solidFill>
              </a:defRPr>
            </a:pPr>
            <a:r>
              <a:rPr sz="975" b="1">
                <a:solidFill>
                  <a:srgbClr val="9FB2BD"/>
                </a:solidFill>
              </a:rPr>
              <a:t>05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99238-A8A0-48D5-B813-9B070A62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4C160-1D62-4D07-B4D8-B4C30ECD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React + Three.js Implementation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5D094-1FFB-4344-9774-93410F6D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BD"/>
                </a:solidFill>
              </a:defRPr>
            </a:pPr>
            <a:r>
              <a:rPr sz="1350" b="0">
                <a:solidFill>
                  <a:srgbClr val="9FB2BD"/>
                </a:solidFill>
              </a:rPr>
              <a:t>The user experience combines normal React pages with a real-time-feeling 3D game canvas.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578EE-1784-4025-A56D-D1B46EEB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DD3A6-AABB-4B24-9EF2-78AC5CFD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8A9EFD-EE85-499A-8C7E-14E55E04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React Router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C93F5-15AB-41EF-8534-53C7E55B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Home, Login, Register, Dashboard, Game, Leaderboard, Profile.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D801A-7A4C-4BBC-AEFC-8C3D200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6869C-8040-489D-AA51-F21D2E69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2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E5361C-475C-4F71-B755-9B4709F0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33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Apollo Client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6B1FB1-3CBE-4C04-B0AE-EAC2B721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147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4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Queries and mutations for auth, dashboard, leaderboard, challenges, and progress.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2AD39-748E-4F8B-A370-C5ECBE8C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415017-56B7-4DD2-823A-C24A7093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FEF05-79A3-4338-9F03-6F01B4CB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Three.js Scene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B66B7-7C58-4941-8835-0860953D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7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Raycasting, camera motion, animated water, containers, crashes, and game-over state.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6CA530-9ADC-4373-A910-ED83209D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72BACC-61D1-485B-B724-6DBF17A9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3AA9AB-45D3-40D5-AB37-F3AB7931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Responsive UI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119FDE-867B-486A-BBBB-1F7058AD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244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Dark tech visual system, sticky nav, cards, tables, and mobile layouts.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A3960E-B3FE-4BD6-9A7F-C524A040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2BD"/>
                </a:solidFill>
              </a:defRPr>
            </a:pPr>
            <a:r>
              <a:rPr sz="825" b="0">
                <a:solidFill>
                  <a:srgbClr val="9FB2BD"/>
                </a:solidFill>
              </a:rPr>
              <a:t>Docker Heist | React Vite + Three.js + GraphQL + MongoDB</a:t>
            </a:r>
          </a:p>
        </p:txBody>
      </p:sp>
    </p:spTree>
    <p:extLst>
      <p:ext uri="{BB962C8B-B14F-4D97-AF65-F5344CB8AC3E}">
        <p14:creationId xmlns:p14="http://schemas.microsoft.com/office/powerpoint/2010/main" val="567843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D4E44-A663-4D26-A0A3-9D32C43E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5770B-B9E9-4857-98FD-E3373B32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1FF5C-C921-41F4-A436-0E9CDD8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1840F-6FAB-4411-8FB4-DDE95087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7F319-BA88-48E8-B2EB-AE06FF0C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5045B-225D-4C06-B9E4-541CC5B9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3AB9B-FDE1-45B3-B9B9-702CE405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42BF6-BF5B-404F-A440-95D974E7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CA156-B4F9-4E2B-A470-04AF4C29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910CA-6670-4582-95C2-E6AD9886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09DAD-6853-41DD-BC23-E8F5A86B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C9EF8-0F4D-467D-8560-76A6ABA3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92CD7-EDB3-4BCC-9C17-5F4039FE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EB62F-CA31-40EA-87DD-ED4F6F0B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4D04F-4C30-42F4-A367-0A755C7D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5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D2907-89EC-435A-B6BF-5AC38909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2190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441CA-4739-4E3A-9D72-C3C4ADCE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>
              <a:alpha val="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1B985-E8BD-4F4C-9CAC-63D64FA1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FF"/>
                </a:solidFill>
              </a:defRPr>
            </a:pPr>
            <a:r>
              <a:rPr sz="975" b="1">
                <a:solidFill>
                  <a:srgbClr val="44D7FF"/>
                </a:solidFill>
              </a:rPr>
              <a:t>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CFC3D-B1DB-4698-B162-8C2AE672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2BD"/>
                </a:solidFill>
              </a:defRPr>
            </a:pPr>
            <a:r>
              <a:rPr sz="975" b="1">
                <a:solidFill>
                  <a:srgbClr val="9FB2BD"/>
                </a:solidFill>
              </a:rPr>
              <a:t>06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8A745-6D10-4CED-98A7-DD7830D4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8C3D7-A427-4D47-8AE7-2DCF5F77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GraphQL API Responsibilities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18B64-6319-4FDB-8146-D5A67AF8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BD"/>
                </a:solidFill>
              </a:defRPr>
            </a:pPr>
            <a:r>
              <a:rPr sz="1350" b="0">
                <a:solidFill>
                  <a:srgbClr val="9FB2BD"/>
                </a:solidFill>
              </a:rPr>
              <a:t>The backend handles authentication, game state persistence, challenge scoring, leaderboard ranking, and live event feed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32FC3A-64BF-4D0A-8AD7-E9BE7D9D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9BDDF6-9775-4430-8AF1-81F285EA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4D7FF"/>
                </a:solidFill>
              </a:defRPr>
            </a:pPr>
            <a:r>
              <a:rPr sz="1425" b="1">
                <a:solidFill>
                  <a:srgbClr val="44D7FF"/>
                </a:solidFill>
              </a:rPr>
              <a:t>Auth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21354-3109-4445-89E1-01163BDF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15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register, login, me, currentUser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7B33F-3DB5-4C75-854C-D4177170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7E62C9-B669-486B-BEE2-AC58F487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F2A4"/>
                </a:solidFill>
              </a:defRPr>
            </a:pPr>
            <a:r>
              <a:rPr sz="1425" b="1">
                <a:solidFill>
                  <a:srgbClr val="70F2A4"/>
                </a:solidFill>
              </a:rPr>
              <a:t>Progress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FA14C-30DF-488D-8416-E4B068B2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415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gameProfile, saveGameProgress, resetMyGameProgress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640F7-F9AF-4A96-A95D-FA77FAFD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70052A-BA8B-4EEA-B621-8371E540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857"/>
                </a:solidFill>
              </a:defRPr>
            </a:pPr>
            <a:r>
              <a:rPr sz="1425" b="1">
                <a:solidFill>
                  <a:srgbClr val="FFC857"/>
                </a:solidFill>
              </a:rPr>
              <a:t>Game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CC5408-CC8A-4313-B01B-0DDEE846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415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dashboard, achievements, challenges, recentMatches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D37F8B-F11F-4785-8FF9-40F5A853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F4D77A-FBFA-4F89-BEB7-53003574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8CFF"/>
                </a:solidFill>
              </a:defRPr>
            </a:pPr>
            <a:r>
              <a:rPr sz="1425" b="1">
                <a:solidFill>
                  <a:srgbClr val="2F8CFF"/>
                </a:solidFill>
              </a:rPr>
              <a:t>Competition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42BE86-0A80-424D-BB27-1A7A2F18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05350"/>
            <a:ext cx="415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completeChallenge, leaderboard, liveGameEvents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585ED3-8B51-45C7-A829-02F09DDC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2BD"/>
                </a:solidFill>
              </a:defRPr>
            </a:pPr>
            <a:r>
              <a:rPr sz="825" b="0">
                <a:solidFill>
                  <a:srgbClr val="9FB2BD"/>
                </a:solidFill>
              </a:rPr>
              <a:t>Docker Heist | React Vite + Three.js + GraphQL + MongoDB</a:t>
            </a:r>
          </a:p>
        </p:txBody>
      </p:sp>
    </p:spTree>
    <p:extLst>
      <p:ext uri="{BB962C8B-B14F-4D97-AF65-F5344CB8AC3E}">
        <p14:creationId xmlns:p14="http://schemas.microsoft.com/office/powerpoint/2010/main" val="1844689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7029B-051C-4456-B03B-4EBB0B56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3B947-CE28-4EAA-82E6-BDFF9934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73820-2CF8-42AA-ACF3-018F537A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39A79-1A10-4E49-98C8-682B6D8D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EDBCA-BF97-407C-B2B8-E88A4263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3F0BB-34C5-488A-B0F3-FB14F54B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12143-CE96-421E-9FA2-3F157258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A958A-8642-4718-8B72-7AAB1C1E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CD5C2-3A87-420E-99AD-C0E73E3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900D1-75C0-4AE2-83A1-6857F5A1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872F5-EEDD-444B-B269-C4F22557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FC154-6B16-454A-B895-6A75D9AB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D2D6C-0F75-42FD-90B8-5289BB7C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46345-61F6-45EF-8BC1-43BDD91E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366EC-8A04-429F-A500-3DBE4EA0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5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B6110-E63E-4118-9524-592B5CDA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2190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191BA-3AC8-4B68-9970-6CD68AB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>
              <a:alpha val="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85F8A-EA1C-44C9-926D-66BDEEAD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FF"/>
                </a:solidFill>
              </a:defRPr>
            </a:pPr>
            <a:r>
              <a:rPr sz="975" b="1">
                <a:solidFill>
                  <a:srgbClr val="44D7FF"/>
                </a:solidFill>
              </a:rPr>
              <a:t>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95756-6C84-4794-84D6-93E8DB7E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2BD"/>
                </a:solidFill>
              </a:defRPr>
            </a:pPr>
            <a:r>
              <a:rPr sz="975" b="1">
                <a:solidFill>
                  <a:srgbClr val="9FB2BD"/>
                </a:solidFill>
              </a:rPr>
              <a:t>07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A6EDC-B190-43E9-B88F-3EC469B5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F5E98-1F34-4696-99D7-FDBAA594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MongoDB Document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9F0AA-AAEF-465D-9311-7BF8BB88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BD"/>
                </a:solidFill>
              </a:defRPr>
            </a:pPr>
            <a:r>
              <a:rPr sz="1350" b="0">
                <a:solidFill>
                  <a:srgbClr val="9FB2BD"/>
                </a:solidFill>
              </a:rPr>
              <a:t>Each collection supports a visible part of the gameplay or presentation 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54E88-A423-46F7-A0B2-6177BC87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143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76FD7-EDCA-49C7-A3D8-B3FD9CA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F5730-75DF-4E93-8B2E-8ED81F60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337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0DD93-203B-4304-A134-269FD5EC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Account, email, hashed password, role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3AB3E-57E2-49DF-A2DF-D0E94FC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3143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8C20BB-58F4-4AE6-B96C-88B4FDF3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2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51FD4F-9253-4C13-9A53-A96A3E04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337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GameProfile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07B96D-6120-4A5E-91B3-2A535E71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57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673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Level, XP, score, credits, health, cosmetics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D2DAD4-C8D0-4992-A4CE-33432BE0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3143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FB23E7-F6CD-4EEF-9E1B-12237242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33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679A90-4B2F-4D02-8048-6A710942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Achievement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88DB65-52AF-4509-97B1-B0036661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Badge rules and unlock state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A8C281-1FEF-4CFA-8900-A5B7051A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3143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60F773-962C-4EFC-B180-CD53942F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994AAE-2D84-4A2C-8351-3DA3EBA1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LeaderboardEntry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1800E1-A64E-4511-9FF4-BAC4A5DB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Ranked score records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654FFA-19A2-4C78-90D4-2F281256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14800"/>
            <a:ext cx="3143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EB468F-790B-491E-86D2-1557E7CB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86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B28CF5-5833-4121-BC3D-810C108C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86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5BC723-0F01-4832-9112-060E3DF3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10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6742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Daily, weekly, and AI challenge definitions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D4387A-AE8F-4FED-A0DB-9D150E19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3143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7FF900-17DC-4729-B408-9E382A53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86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2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84B4AE-2C0B-435C-8929-9EBA2DA3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MatchResult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5FFD03-A83C-497E-8CE1-849536D0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BD"/>
                </a:solidFill>
              </a:defRPr>
            </a:pPr>
            <a:r>
              <a:rPr sz="975" b="0">
                <a:solidFill>
                  <a:srgbClr val="9FB2BD"/>
                </a:solidFill>
              </a:rPr>
              <a:t>Saved game and challenge history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253D99-6A1A-428D-AC9C-9302E0E9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2BD"/>
                </a:solidFill>
              </a:defRPr>
            </a:pPr>
            <a:r>
              <a:rPr sz="825" b="0">
                <a:solidFill>
                  <a:srgbClr val="9FB2BD"/>
                </a:solidFill>
              </a:rPr>
              <a:t>Docker Heist | React Vite + Three.js + GraphQL + MongoDB</a:t>
            </a:r>
          </a:p>
        </p:txBody>
      </p:sp>
    </p:spTree>
    <p:extLst>
      <p:ext uri="{BB962C8B-B14F-4D97-AF65-F5344CB8AC3E}">
        <p14:creationId xmlns:p14="http://schemas.microsoft.com/office/powerpoint/2010/main" val="1556847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C7390-43A3-4371-8CFE-8DB0E31C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CA5E4-0E04-49C7-AA15-2F7659A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FA3B5-897E-442D-BA20-B8CE36D6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FCC9F-DA0F-4A9C-A044-A515DC64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E204C-C43F-4645-B758-7E102830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990F0-E9E5-468E-94F2-9AB8E527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2BCCF-27E8-4440-8012-2D0F5952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3A537-3950-4DBF-84F7-35CB6862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322CE-279D-4115-BFD9-9BCFC328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C223A-808B-4666-9418-FA4376E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AF8EE-9578-4F23-8292-841483D6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89744-85F6-46AE-8DB1-A3D6A9E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ED3A1-87B9-4AFB-9E55-002CDF34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E8EC4-6988-43AA-BC08-6ECE89DE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CDEA2-F1C8-40FB-8462-7A005CB5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5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34CCB-B50B-465E-AEE6-DE8A6CF7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2190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E398D-D9BA-42F6-86FC-BC26213F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>
              <a:alpha val="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DC533-F373-43D9-9372-952C1AC8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FF"/>
                </a:solidFill>
              </a:defRPr>
            </a:pPr>
            <a:r>
              <a:rPr sz="975" b="1">
                <a:solidFill>
                  <a:srgbClr val="44D7FF"/>
                </a:solidFill>
              </a:rPr>
              <a:t>Rewards +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8003D-85A7-45B1-9629-2D39EA1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2BD"/>
                </a:solidFill>
              </a:defRPr>
            </a:pPr>
            <a:r>
              <a:rPr sz="975" b="1">
                <a:solidFill>
                  <a:srgbClr val="9FB2BD"/>
                </a:solidFill>
              </a:rPr>
              <a:t>08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4485C-BFE0-475C-ADF3-748AED1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803A3-A402-43A6-BA20-B1ED44E8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Progression Systems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FAC66-A85F-4E43-AE83-486CB136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BD"/>
                </a:solidFill>
              </a:defRPr>
            </a:pPr>
            <a:r>
              <a:rPr sz="1350" b="0">
                <a:solidFill>
                  <a:srgbClr val="9FB2BD"/>
                </a:solidFill>
              </a:rPr>
              <a:t>The game includes reward mechanics and an asynchronous AI opponent challenge 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69D84-9461-43D0-8AEC-091B53E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33E33-9111-457F-9097-FD41A5A6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93CD0-9EC8-478D-95AE-5DB52C71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XP + Levels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D4BA8E-E2B6-4C4E-B4A4-8F326316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XP is calculated from score and command actions; level increases with XP.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22516-8723-45F2-9F7E-C29D44E2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E98A0-E4F4-4772-8948-91701BB3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2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56253E-899E-4C35-86E2-59117DE9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33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Credits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461F95-CAC3-4651-AFD9-39BE6501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147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Players earn credits from saved runs and challenge rewards.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A4995-9E9C-4619-B94C-26B47861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5FB36D-5FD4-4CE0-AA32-FC7A18C7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115AFA-0DA3-4CA4-B852-C95AD402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Achievements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0B25E0-DCB8-45CB-BEA5-60F4CE74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Milestones unlock badges such as First Build and Mission Ready.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323130-8DC6-4683-B9CD-D9749774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C50AA9-0C7D-48EA-ADFA-126DAD79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11AB7E-D9BF-4861-AB0A-F8CBDC2B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Adaptive AI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E98FB1-66D0-4619-B3AC-E7757F4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244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Challenge scoring compares the player run against an AI target score.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AF830E-6F9E-47BD-A551-D82D183E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2BD"/>
                </a:solidFill>
              </a:defRPr>
            </a:pPr>
            <a:r>
              <a:rPr sz="825" b="0">
                <a:solidFill>
                  <a:srgbClr val="9FB2BD"/>
                </a:solidFill>
              </a:rPr>
              <a:t>Docker Heist | React Vite + Three.js + GraphQL + MongoDB</a:t>
            </a:r>
          </a:p>
        </p:txBody>
      </p:sp>
    </p:spTree>
    <p:extLst>
      <p:ext uri="{BB962C8B-B14F-4D97-AF65-F5344CB8AC3E}">
        <p14:creationId xmlns:p14="http://schemas.microsoft.com/office/powerpoint/2010/main" val="20141546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00AB2-445A-4359-B524-6094A2BA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EE363-F25B-4BBD-B549-34F508E1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3B50C-FA28-49A3-B846-66A3785A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0AD4E-9725-4D6D-B1C1-04FF8FDA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DF676-6D7F-4E28-8A65-8F1A4D7F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B5EB9-C1A4-4661-8BE6-E5030A04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10D13-7AA9-436E-86FF-8BE837E9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BB77A-0518-499D-8827-59FAE28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4E67C-B79D-4833-8323-DFD48BBA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8756E-C4E0-4F90-BA28-0DF46D17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BBFDA-71C2-42DE-993B-78AAF89A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8DD3D-E10E-4E4F-A5F7-3D4F2F90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BA668-C365-44BB-8FDC-66C4C4E4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87693-03F2-4F45-BBC0-B993FD02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C4B19-8009-4603-87E6-2B96A814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5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36C4A-B377-4A2B-8141-FF310E56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2190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F45CD-0143-4994-A5E4-3D6A847F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>
              <a:alpha val="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F0106-A653-422D-B370-6FC24FFF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FF"/>
                </a:solidFill>
              </a:defRPr>
            </a:pPr>
            <a:r>
              <a:rPr sz="975" b="1">
                <a:solidFill>
                  <a:srgbClr val="44D7FF"/>
                </a:solidFill>
              </a:rPr>
              <a:t>Rubric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CAC78-EAA3-4A7D-B57A-A835B6E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2BD"/>
                </a:solidFill>
              </a:defRPr>
            </a:pPr>
            <a:r>
              <a:rPr sz="975" b="1">
                <a:solidFill>
                  <a:srgbClr val="9FB2BD"/>
                </a:solidFill>
              </a:rPr>
              <a:t>09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DA3E3-41B8-49EE-BA6F-96393003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6A3E4-D513-45BD-AE2A-0CC4CF1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Assignment Checklist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B73EA-296D-4C54-8E95-E9108B44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BD"/>
                </a:solidFill>
              </a:defRPr>
            </a:pPr>
            <a:r>
              <a:rPr sz="1350" b="0">
                <a:solidFill>
                  <a:srgbClr val="9FB2BD"/>
                </a:solidFill>
              </a:rPr>
              <a:t>Most required Exercise 2 components are implemented; deployment remains the main optional/pending item before final submission.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5FE5A-E525-4633-868C-5399EC9C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442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A5A07-2A2D-48DB-8409-7C9F2D6A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FF"/>
                </a:solidFill>
              </a:defRPr>
            </a:pPr>
            <a:r>
              <a:rPr sz="1125" b="1">
                <a:solidFill>
                  <a:srgbClr val="44D7FF"/>
                </a:solidFill>
              </a:rPr>
              <a:t>Requirement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FB5DD-EB9D-4C61-93F7-C0E0AA5F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FF"/>
                </a:solidFill>
              </a:defRPr>
            </a:pPr>
            <a:r>
              <a:rPr sz="1125" b="1">
                <a:solidFill>
                  <a:srgbClr val="44D7FF"/>
                </a:solidFill>
              </a:rPr>
              <a:t>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2C9CEF-C051-4A73-8AFA-B3ACFC9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133CB1-59C3-4703-A46B-364AD3C0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5F8"/>
                </a:solidFill>
              </a:defRPr>
            </a:pPr>
            <a:r>
              <a:rPr sz="1050" b="0">
                <a:solidFill>
                  <a:srgbClr val="EEF5F8"/>
                </a:solidFill>
              </a:rPr>
              <a:t>Registration/login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82EBE0-EF44-4556-9E67-AE83ACE0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F2A4"/>
                </a:solidFill>
              </a:defRPr>
            </a:pPr>
            <a:r>
              <a:rPr sz="1050" b="1">
                <a:solidFill>
                  <a:srgbClr val="70F2A4"/>
                </a:solidFill>
              </a:rPr>
              <a:t>Complete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7BEF6-768E-41C5-B2D5-E2FF224C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F0381-C694-4CE5-9B17-F1CF662B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5F8"/>
                </a:solidFill>
              </a:defRPr>
            </a:pPr>
            <a:r>
              <a:rPr sz="1050" b="0">
                <a:solidFill>
                  <a:srgbClr val="EEF5F8"/>
                </a:solidFill>
              </a:rPr>
              <a:t>Core gameplay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E9643B-F7DC-4FE8-B3B0-350F155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F2A4"/>
                </a:solidFill>
              </a:defRPr>
            </a:pPr>
            <a:r>
              <a:rPr sz="1050" b="1">
                <a:solidFill>
                  <a:srgbClr val="70F2A4"/>
                </a:solidFill>
              </a:rPr>
              <a:t>Complete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9112EE-028E-4108-881C-F94AFFE5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7D38A4-5C7D-453E-A6BA-04836433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5F8"/>
                </a:solidFill>
              </a:defRPr>
            </a:pPr>
            <a:r>
              <a:rPr sz="1050" b="0">
                <a:solidFill>
                  <a:srgbClr val="EEF5F8"/>
                </a:solidFill>
              </a:rPr>
              <a:t>GraphQL API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1A9C7D-59C9-4E08-8E59-046D378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F2A4"/>
                </a:solidFill>
              </a:defRPr>
            </a:pPr>
            <a:r>
              <a:rPr sz="1050" b="1">
                <a:solidFill>
                  <a:srgbClr val="70F2A4"/>
                </a:solidFill>
              </a:rPr>
              <a:t>Complete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618A70-D8DA-407E-B221-94E13A06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3BB608-862E-4F06-9802-4CCF647E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5F8"/>
                </a:solidFill>
              </a:defRPr>
            </a:pPr>
            <a:r>
              <a:rPr sz="1050" b="0">
                <a:solidFill>
                  <a:srgbClr val="EEF5F8"/>
                </a:solidFill>
              </a:rPr>
              <a:t>MongoDB models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491811-2243-470B-BEC7-C581E3CB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F2A4"/>
                </a:solidFill>
              </a:defRPr>
            </a:pPr>
            <a:r>
              <a:rPr sz="1050" b="1">
                <a:solidFill>
                  <a:srgbClr val="70F2A4"/>
                </a:solidFill>
              </a:rPr>
              <a:t>Complete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74900C-3816-4830-9539-CF330C56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5150F9-550A-45D7-A586-7C2F75D8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5F8"/>
                </a:solidFill>
              </a:defRPr>
            </a:pPr>
            <a:r>
              <a:rPr sz="1050" b="0">
                <a:solidFill>
                  <a:srgbClr val="EEF5F8"/>
                </a:solidFill>
              </a:rPr>
              <a:t>Rewards system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F99EE0-8637-4AA3-888D-E33D646B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F2A4"/>
                </a:solidFill>
              </a:defRPr>
            </a:pPr>
            <a:r>
              <a:rPr sz="1050" b="1">
                <a:solidFill>
                  <a:srgbClr val="70F2A4"/>
                </a:solidFill>
              </a:rPr>
              <a:t>Complete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C72B75-C3C6-47D9-990D-6E3977B2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27F531-096F-42A1-A12C-81FE7858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5F8"/>
                </a:solidFill>
              </a:defRPr>
            </a:pPr>
            <a:r>
              <a:rPr sz="1050" b="0">
                <a:solidFill>
                  <a:srgbClr val="EEF5F8"/>
                </a:solidFill>
              </a:rPr>
              <a:t>Leaderboard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61059C-9C13-4D37-AFD0-BD14663C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F2A4"/>
                </a:solidFill>
              </a:defRPr>
            </a:pPr>
            <a:r>
              <a:rPr sz="1050" b="1">
                <a:solidFill>
                  <a:srgbClr val="70F2A4"/>
                </a:solidFill>
              </a:rPr>
              <a:t>Complete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4C5F49-3F32-4040-9009-CA618B23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0D7548-8109-40F3-9666-3F8D7DC7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5F8"/>
                </a:solidFill>
              </a:defRPr>
            </a:pPr>
            <a:r>
              <a:rPr sz="1050" b="0">
                <a:solidFill>
                  <a:srgbClr val="EEF5F8"/>
                </a:solidFill>
              </a:rPr>
              <a:t>Challenge mode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AAB1C8-0A36-4D96-A3A2-E9AB9971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F2A4"/>
                </a:solidFill>
              </a:defRPr>
            </a:pPr>
            <a:r>
              <a:rPr sz="1050" b="1">
                <a:solidFill>
                  <a:srgbClr val="70F2A4"/>
                </a:solidFill>
              </a:rPr>
              <a:t>Complete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DB6EEA-649B-4906-BDFD-29C5B67C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EB3720-3083-4222-BA81-D558E9EA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5F8"/>
                </a:solidFill>
              </a:defRPr>
            </a:pPr>
            <a:r>
              <a:rPr sz="1050" b="0">
                <a:solidFill>
                  <a:srgbClr val="EEF5F8"/>
                </a:solidFill>
              </a:rPr>
              <a:t>Responsive UI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31F427-8384-4BEF-837B-C8B4091C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33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F2A4"/>
                </a:solidFill>
              </a:defRPr>
            </a:pPr>
            <a:r>
              <a:rPr sz="1050" b="1">
                <a:solidFill>
                  <a:srgbClr val="70F2A4"/>
                </a:solidFill>
              </a:rPr>
              <a:t>Complete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28556E-A6F0-44D0-993C-CA02DB26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562F5B-5435-48AC-B44C-17770B12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5F8"/>
                </a:solidFill>
              </a:defRPr>
            </a:pPr>
            <a:r>
              <a:rPr sz="1050" b="0">
                <a:solidFill>
                  <a:srgbClr val="EEF5F8"/>
                </a:solidFill>
              </a:rPr>
              <a:t>Deployment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5F17C0-13EB-4845-A47B-348B24EC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81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C857"/>
                </a:solidFill>
              </a:defRPr>
            </a:pPr>
            <a:r>
              <a:rPr sz="1050" b="1">
                <a:solidFill>
                  <a:srgbClr val="FFC857"/>
                </a:solidFill>
              </a:rPr>
              <a:t>Pending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AD7A9B-17A0-4660-AA2F-DAF78F3D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72D13A-BEC1-4233-B17D-4B9BFFA4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5F8"/>
                </a:solidFill>
              </a:defRPr>
            </a:pPr>
            <a:r>
              <a:rPr sz="1050" b="0">
                <a:solidFill>
                  <a:srgbClr val="EEF5F8"/>
                </a:solidFill>
              </a:rPr>
              <a:t>Multiplayer bonus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093F62-4321-402A-A13C-ADE3CACA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B2BD"/>
                </a:solidFill>
              </a:defRPr>
            </a:pPr>
            <a:r>
              <a:rPr sz="1050" b="1">
                <a:solidFill>
                  <a:srgbClr val="9FB2BD"/>
                </a:solidFill>
              </a:rPr>
              <a:t>Optional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1FA8DD-FFC7-46CA-B8D2-FD9C444F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2BD"/>
                </a:solidFill>
              </a:defRPr>
            </a:pPr>
            <a:r>
              <a:rPr sz="825" b="0">
                <a:solidFill>
                  <a:srgbClr val="9FB2BD"/>
                </a:solidFill>
              </a:rPr>
              <a:t>Docker Heist | React Vite + Three.js + GraphQL + MongoDB</a:t>
            </a:r>
          </a:p>
        </p:txBody>
      </p:sp>
    </p:spTree>
    <p:extLst>
      <p:ext uri="{BB962C8B-B14F-4D97-AF65-F5344CB8AC3E}">
        <p14:creationId xmlns:p14="http://schemas.microsoft.com/office/powerpoint/2010/main" val="3603203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5FE74-472D-44C0-99CB-F79DD4A1A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78C48-B92E-4B83-B850-04F926F4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9A976-871F-46BF-82C5-BC1406DD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97689-DC01-48D9-BAE8-ED90D368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3B3DD-C6B9-466F-B253-1946995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0D264-EA00-4B92-B492-8920D04E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B869C-A857-4A4B-8361-5039EC4C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FC56A-10CC-44CA-8064-CCBF1294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41973-0E38-44BA-804C-89EAF9C2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6CF7E-A87B-41CF-A07E-0BF9B34D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5A9D5-50D2-4D7D-81FE-5C756074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2CB71-B1A8-43A1-9FB1-485D89EC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A8AA1-6FF5-46B7-861E-DAE9A8F1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55856-1C63-4B5E-B3ED-514833F1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0B840-55F2-48D6-80FA-288727D3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5A9CB-1766-433C-8CCF-4E31637B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5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81FDE-7B80-4EC6-BF3B-980CFFD4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2190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17871-191A-4DD7-97F3-06205284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F2A4">
              <a:alpha val="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2F989-364E-4E06-9874-9843FA56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FF"/>
                </a:solidFill>
              </a:defRPr>
            </a:pPr>
            <a:r>
              <a:rPr sz="975" b="1">
                <a:solidFill>
                  <a:srgbClr val="44D7FF"/>
                </a:solidFill>
              </a:rPr>
              <a:t>Demo +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AEF3D-00A6-4C67-A5CD-D084128B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2BD"/>
                </a:solidFill>
              </a:defRPr>
            </a:pPr>
            <a:r>
              <a:rPr sz="975" b="1">
                <a:solidFill>
                  <a:srgbClr val="9FB2BD"/>
                </a:solidFill>
              </a:rPr>
              <a:t>10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14911-ABED-4931-8751-86A4E1EC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EA4E3F-DBD8-45B1-B363-08BD69AA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How We Prove It 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74B7A-5F44-477C-8A49-B59D93BA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BD"/>
                </a:solidFill>
              </a:defRPr>
            </a:pPr>
            <a:r>
              <a:rPr sz="1350" b="0">
                <a:solidFill>
                  <a:srgbClr val="9FB2BD"/>
                </a:solidFill>
              </a:rPr>
              <a:t>The presentation can move from live gameplay to data persistence and then to verification results.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DFA34-3863-4F08-B31F-37ABE9DA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3200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B4167-D9D7-4BEA-9B96-11FED615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5FEC5-CDE5-4003-8215-0846243B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Demo 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45AEC-3FDA-4625-B117-39B3CCCB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Login -&gt; Game -&gt; AI Challenge -&gt; Dashboard -&gt; Leaderboard -&gt; Profile -&gt; GraphQL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3B7AE8-F20C-4BD0-A289-79943F09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3200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2221F8-0C5B-4E22-AF8D-AA00371D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2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B36B3B-8A9A-41BF-880A-EDD511A1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B4B9C-E01E-4F15-8876-DCCFFD5A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Client tests pass, production build passes, backend resolver import passes.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C2008B-7FD7-4E66-A0BC-8E04799F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3200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0478">
            <a:solidFill>
              <a:srgbClr val="3553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A8EF97-7388-48D4-97F5-3C81881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5AA1C1-AF23-4047-8ABD-A970CAF7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51137B-0736-402F-8A69-C4020EB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BD"/>
                </a:solidFill>
              </a:defRPr>
            </a:pPr>
            <a:r>
              <a:rPr sz="1125" b="0">
                <a:solidFill>
                  <a:srgbClr val="9FB2BD"/>
                </a:solidFill>
              </a:rPr>
              <a:t>Deploy frontend/backend, add live URLs, optionally upgrade event polling to WebSocket subscriptions.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F8D1F4-3278-4142-8510-3BE1E1A4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34000"/>
            <a:ext cx="6438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151D"/>
          </a:solidFill>
          <a:ln xmlns:a="http://schemas.openxmlformats.org/drawingml/2006/main" w="11430">
            <a:solidFill>
              <a:srgbClr val="70F2A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0E8873-9582-4C14-BA32-E6E9F3FD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864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977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EF5F8"/>
                </a:solidFill>
              </a:defRPr>
            </a:pPr>
            <a:r>
              <a:rPr sz="1200" b="0">
                <a:solidFill>
                  <a:srgbClr val="EEF5F8"/>
                </a:solidFill>
              </a:rPr>
              <a:t>Suggested final demo: login with demo@dockerops.com, play one run, submit an AI challenge, then show Dashboard and Leaderboard.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4FB01C-905E-44D7-8556-72DDDC7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2BD"/>
                </a:solidFill>
              </a:defRPr>
            </a:pPr>
            <a:r>
              <a:rPr sz="825" b="0">
                <a:solidFill>
                  <a:srgbClr val="9FB2BD"/>
                </a:solidFill>
              </a:rPr>
              <a:t>Docker Heist | React Vite + Three.js + GraphQL + MongoDB</a:t>
            </a:r>
          </a:p>
        </p:txBody>
      </p:sp>
    </p:spTree>
    <p:extLst>
      <p:ext uri="{BB962C8B-B14F-4D97-AF65-F5344CB8AC3E}">
        <p14:creationId xmlns:p14="http://schemas.microsoft.com/office/powerpoint/2010/main" val="568810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2026-04-18T23:20:26.2380000Z</dcterms:created>
  <dcterms:modified xsi:type="dcterms:W3CDTF">2026-04-18T23:20:26.2380000Z</dcterms:modified>
</coreProperties>
</file>